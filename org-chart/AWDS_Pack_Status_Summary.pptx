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gramm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ro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"/>
            <a:ext cx="230428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0" y="27432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0B2E63"/>
                </a:solidFill>
              </a:rPr>
              <a:t>Design-to-Tender Workflow — Pack Status Summary</a:t>
            </a:r>
          </a:p>
          <a:p>
            <a:pPr algn="r"/>
            <a:r>
              <a:rPr sz="1200" i="1">
                <a:solidFill>
                  <a:srgbClr val="5B6B8C"/>
                </a:solidFill>
              </a:rPr>
              <a:t>Current workflow stage of each contract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B2E63"/>
                </a:solidFill>
              </a:rPr>
              <a:t>Workflow stages:   </a:t>
            </a:r>
            <a:r>
              <a:rPr sz="1050">
                <a:solidFill>
                  <a:srgbClr val="0F1B3D"/>
                </a:solidFill>
              </a:rPr>
              <a:t>1 Pre-IDC Pack · 2 IDC · 3 Full ITT Pack — Rev 01 · 4 TII Instruction to Issue C01 · 5 AWDS C01 Submission · 6 Ready for Tender · 7 ITT Issue Date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Contract</a:t>
                      </a:r>
                    </a:p>
                  </a:txBody>
                  <a:tcPr anchor="ctr" marL="73152" marT="18288" marB="18288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Design-to-Tender Workflow Status</a:t>
                      </a:r>
                    </a:p>
                  </a:txBody>
                  <a:tcPr anchor="ctr" marL="73152" marT="18288" marB="18288">
                    <a:solidFill>
                      <a:srgbClr val="0B2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2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IDC</a:t>
                      </a:r>
                    </a:p>
                  </a:txBody>
                  <a:tcPr anchor="ctr" marL="73152" marT="18288" marB="18288">
                    <a:solidFill>
                      <a:srgbClr val="E1E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M141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2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IDC</a:t>
                      </a:r>
                    </a:p>
                  </a:txBody>
                  <a:tcPr anchor="ctr" marL="73152" marT="18288" marB="18288">
                    <a:solidFill>
                      <a:srgbClr val="E1E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M145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M146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M147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M130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M135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5352" y="160020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Contract</a:t>
                      </a:r>
                    </a:p>
                  </a:txBody>
                  <a:tcPr anchor="ctr" marL="73152" marT="18288" marB="18288">
                    <a:solidFill>
                      <a:srgbClr val="0B2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Design-to-Tender Workflow Status</a:t>
                      </a:r>
                    </a:p>
                  </a:txBody>
                  <a:tcPr anchor="ctr" marL="73152" marT="18288" marB="18288">
                    <a:solidFill>
                      <a:srgbClr val="0B2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M138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M160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3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Full ITT Pack — Rev 01</a:t>
                      </a:r>
                    </a:p>
                  </a:txBody>
                  <a:tcPr anchor="ctr" marL="73152" marT="18288" marB="18288">
                    <a:solidFill>
                      <a:srgbClr val="D6E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M161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M190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2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IDC</a:t>
                      </a:r>
                    </a:p>
                  </a:txBody>
                  <a:tcPr anchor="ctr" marL="73152" marT="18288" marB="18288">
                    <a:solidFill>
                      <a:srgbClr val="E1EC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M111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Minor Works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Env. Baseline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0B2E63"/>
                          </a:solidFill>
                        </a:rPr>
                        <a:t>DAA Works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F5FD6"/>
                          </a:solidFill>
                        </a:rPr>
                        <a:t>1  </a:t>
                      </a:r>
                      <a:r>
                        <a:rPr sz="1100">
                          <a:solidFill>
                            <a:srgbClr val="0F1B3D"/>
                          </a:solidFill>
                        </a:rPr>
                        <a:t>·  Pre-IDC Pack</a:t>
                      </a:r>
                    </a:p>
                  </a:txBody>
                  <a:tcPr anchor="ctr" marL="73152" marT="18288" marB="18288">
                    <a:solidFill>
                      <a:srgbClr val="EC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i="1">
                <a:solidFill>
                  <a:srgbClr val="5B6B8C"/>
                </a:solidFill>
              </a:rPr>
              <a:t>Status indicative as at 30-Jun-2026 — to be confirmed and maintained against the live P6 integrated programme. Stage numbers correspond to the Design-to-Tender Workflow.</a:t>
            </a:r>
          </a:p>
        </p:txBody>
      </p:sp>
      <p:pic>
        <p:nvPicPr>
          <p:cNvPr id="8" name="Picture 7" descr="atkinsreal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6355080"/>
            <a:ext cx="2036064" cy="274320"/>
          </a:xfrm>
          <a:prstGeom prst="rect">
            <a:avLst/>
          </a:prstGeom>
        </p:spPr>
      </p:pic>
      <p:pic>
        <p:nvPicPr>
          <p:cNvPr id="9" name="Picture 8" descr="tetra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309360"/>
            <a:ext cx="1253642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